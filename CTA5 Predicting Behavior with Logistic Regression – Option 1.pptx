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65" r:id="rId4"/>
  </p:sldMasterIdLst>
  <p:sldIdLst>
    <p:sldId id="300" r:id="rId5"/>
    <p:sldId id="302" r:id="rId6"/>
    <p:sldId id="307" r:id="rId7"/>
    <p:sldId id="306" r:id="rId8"/>
    <p:sldId id="304" r:id="rId9"/>
    <p:sldId id="308" r:id="rId10"/>
    <p:sldId id="311" r:id="rId11"/>
    <p:sldId id="309" r:id="rId12"/>
    <p:sldId id="310" r:id="rId13"/>
    <p:sldId id="301" r:id="rId14"/>
    <p:sldId id="303" r:id="rId15"/>
    <p:sldId id="31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19" autoAdjust="0"/>
  </p:normalViewPr>
  <p:slideViewPr>
    <p:cSldViewPr snapToGrid="0">
      <p:cViewPr varScale="1">
        <p:scale>
          <a:sx n="143" d="100"/>
          <a:sy n="143" d="100"/>
        </p:scale>
        <p:origin x="114"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8640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3615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5792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1857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8/22/2021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631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8/22/2021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1129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8/22/2021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97578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8/22/2021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99662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8/22/2021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5517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8/22/2021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307924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142301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1502878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642816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14660233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32452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735564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8/22/2021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0416992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2D6E202-B606-4609-B914-27C9371A1F6D}" type="datetime1">
              <a:rPr lang="en-US" smtClean="0"/>
              <a:t>8/22/2021</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14684739"/>
      </p:ext>
    </p:extLst>
  </p:cSld>
  <p:clrMap bg1="dk1" tx1="lt1" bg2="dk2" tx2="lt2" accent1="accent1" accent2="accent2" accent3="accent3" accent4="accent4" accent5="accent5" accent6="accent6" hlink="hlink" folHlink="folHlink"/>
  <p:sldLayoutIdLst>
    <p:sldLayoutId id="2147484066" r:id="rId1"/>
    <p:sldLayoutId id="2147484067" r:id="rId2"/>
    <p:sldLayoutId id="2147484068" r:id="rId3"/>
    <p:sldLayoutId id="2147484069" r:id="rId4"/>
    <p:sldLayoutId id="2147484070" r:id="rId5"/>
    <p:sldLayoutId id="2147484071" r:id="rId6"/>
    <p:sldLayoutId id="2147484072" r:id="rId7"/>
    <p:sldLayoutId id="2147484073" r:id="rId8"/>
    <p:sldLayoutId id="2147484074" r:id="rId9"/>
    <p:sldLayoutId id="2147484075" r:id="rId10"/>
    <p:sldLayoutId id="2147484076" r:id="rId11"/>
    <p:sldLayoutId id="2147484077" r:id="rId12"/>
    <p:sldLayoutId id="2147484078" r:id="rId13"/>
    <p:sldLayoutId id="2147484079" r:id="rId14"/>
    <p:sldLayoutId id="2147484080" r:id="rId15"/>
    <p:sldLayoutId id="2147484081" r:id="rId16"/>
    <p:sldLayoutId id="2147484082"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7" y="643851"/>
            <a:ext cx="9404723" cy="1572068"/>
          </a:xfrm>
        </p:spPr>
        <p:txBody>
          <a:bodyPr>
            <a:normAutofit/>
          </a:bodyPr>
          <a:lstStyle/>
          <a:p>
            <a:pPr algn="ctr"/>
            <a:r>
              <a:rPr lang="en-US" sz="1800" dirty="0">
                <a:solidFill>
                  <a:schemeClr val="bg1"/>
                </a:solidFill>
              </a:rPr>
              <a:t>Predicting Behavior with Logistic Regression – Option 1</a:t>
            </a:r>
            <a:br>
              <a:rPr lang="en-US" sz="1800" dirty="0">
                <a:solidFill>
                  <a:schemeClr val="bg1"/>
                </a:solidFill>
              </a:rPr>
            </a:br>
            <a:br>
              <a:rPr lang="en-US" sz="1800" dirty="0">
                <a:solidFill>
                  <a:schemeClr val="bg1"/>
                </a:solidFill>
              </a:rPr>
            </a:br>
            <a:endParaRPr lang="en-US" sz="1800" dirty="0">
              <a:solidFill>
                <a:schemeClr val="bg1"/>
              </a:solidFill>
            </a:endParaRP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1828799" y="1032871"/>
            <a:ext cx="8534400" cy="3615267"/>
          </a:xfrm>
        </p:spPr>
        <p:txBody>
          <a:bodyPr>
            <a:normAutofit/>
          </a:bodyPr>
          <a:lstStyle/>
          <a:p>
            <a:pPr marL="0" indent="0" algn="ctr">
              <a:buNone/>
            </a:pPr>
            <a:br>
              <a:rPr lang="en-US" sz="1400" dirty="0">
                <a:solidFill>
                  <a:schemeClr val="bg1"/>
                </a:solidFill>
              </a:rPr>
            </a:br>
            <a:r>
              <a:rPr lang="en-US" sz="1400" dirty="0">
                <a:solidFill>
                  <a:schemeClr val="bg1"/>
                </a:solidFill>
              </a:rPr>
              <a:t>Austin Brown</a:t>
            </a:r>
            <a:br>
              <a:rPr lang="en-US" sz="1400" dirty="0">
                <a:solidFill>
                  <a:schemeClr val="bg1"/>
                </a:solidFill>
              </a:rPr>
            </a:br>
            <a:r>
              <a:rPr lang="en-US" sz="1400" dirty="0">
                <a:solidFill>
                  <a:schemeClr val="bg1"/>
                </a:solidFill>
              </a:rPr>
              <a:t>Colorado State University</a:t>
            </a:r>
            <a:br>
              <a:rPr lang="en-US" sz="1400" dirty="0">
                <a:solidFill>
                  <a:schemeClr val="bg1"/>
                </a:solidFill>
              </a:rPr>
            </a:br>
            <a:r>
              <a:rPr lang="en-US" sz="1400" dirty="0">
                <a:solidFill>
                  <a:schemeClr val="bg1"/>
                </a:solidFill>
              </a:rPr>
              <a:t>MIS470: Data Science Foundations</a:t>
            </a:r>
            <a:br>
              <a:rPr lang="en-US" sz="1400" dirty="0">
                <a:solidFill>
                  <a:schemeClr val="bg1"/>
                </a:solidFill>
              </a:rPr>
            </a:br>
            <a:r>
              <a:rPr lang="en-US" sz="1400" dirty="0">
                <a:solidFill>
                  <a:schemeClr val="bg1"/>
                </a:solidFill>
              </a:rPr>
              <a:t>Dr. Alin </a:t>
            </a:r>
            <a:r>
              <a:rPr lang="en-US" sz="1400" dirty="0" err="1">
                <a:solidFill>
                  <a:schemeClr val="bg1"/>
                </a:solidFill>
              </a:rPr>
              <a:t>Tomoiaga</a:t>
            </a:r>
            <a:br>
              <a:rPr lang="en-US" sz="1400" dirty="0">
                <a:solidFill>
                  <a:schemeClr val="bg1"/>
                </a:solidFill>
              </a:rPr>
            </a:br>
            <a:r>
              <a:rPr lang="en-US" sz="1400" dirty="0">
                <a:solidFill>
                  <a:schemeClr val="bg1"/>
                </a:solidFill>
              </a:rPr>
              <a:t>8/22/2021</a:t>
            </a:r>
            <a:br>
              <a:rPr lang="en-US" sz="2000" dirty="0">
                <a:solidFill>
                  <a:schemeClr val="bg1"/>
                </a:solidFill>
              </a:rPr>
            </a:br>
            <a:endParaRPr lang="en-US" sz="1400" dirty="0">
              <a:solidFill>
                <a:schemeClr val="bg1"/>
              </a:solidFill>
            </a:endParaRPr>
          </a:p>
        </p:txBody>
      </p:sp>
    </p:spTree>
    <p:extLst>
      <p:ext uri="{BB962C8B-B14F-4D97-AF65-F5344CB8AC3E}">
        <p14:creationId xmlns:p14="http://schemas.microsoft.com/office/powerpoint/2010/main" val="2933514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95390"/>
            <a:ext cx="9404723" cy="960446"/>
          </a:xfrm>
        </p:spPr>
        <p:txBody>
          <a:bodyPr>
            <a:normAutofit/>
          </a:bodyPr>
          <a:lstStyle/>
          <a:p>
            <a:pPr algn="ctr"/>
            <a:r>
              <a:rPr lang="en-US" sz="1800" dirty="0">
                <a:solidFill>
                  <a:schemeClr val="bg1"/>
                </a:solidFill>
              </a:rPr>
              <a:t>Problem Statement</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1143000" y="2159742"/>
            <a:ext cx="9905998" cy="1411092"/>
          </a:xfrm>
        </p:spPr>
        <p:txBody>
          <a:bodyPr>
            <a:normAutofit lnSpcReduction="10000"/>
          </a:bodyPr>
          <a:lstStyle/>
          <a:p>
            <a:pPr marL="0" indent="0">
              <a:buNone/>
            </a:pPr>
            <a:r>
              <a:rPr lang="en-US" sz="1200" dirty="0">
                <a:solidFill>
                  <a:schemeClr val="bg1"/>
                </a:solidFill>
                <a:latin typeface="Abadi" panose="020B0604020202020204" pitchFamily="34" charset="0"/>
              </a:rPr>
              <a:t>This week’s assignment investigates how we apply logistic regressions to make categorical predictions in the real world. We have been posed a scenario in which we are to observe and analyze the “Churn” rate of customers from provided dataset and case study. This data contains multiple variables, not all of which are statistically significant in determining the y output in a regression model.</a:t>
            </a:r>
          </a:p>
          <a:p>
            <a:pPr marL="0" indent="0">
              <a:buNone/>
            </a:pPr>
            <a:endParaRPr lang="en-US" sz="1200" dirty="0">
              <a:solidFill>
                <a:schemeClr val="bg1"/>
              </a:solidFill>
              <a:latin typeface="Abadi" panose="020B0604020202020204" pitchFamily="34" charset="0"/>
            </a:endParaRPr>
          </a:p>
          <a:p>
            <a:pPr marL="0" indent="0">
              <a:buNone/>
            </a:pPr>
            <a:r>
              <a:rPr lang="en-US" sz="1200" dirty="0">
                <a:solidFill>
                  <a:schemeClr val="bg1"/>
                </a:solidFill>
                <a:latin typeface="Abadi" panose="020B0604020202020204" pitchFamily="34" charset="0"/>
              </a:rPr>
              <a:t>As the problem requires us to determine a percentage churn rate between 0 and 1, with the ability to later categorize a customer as ‘Churned’ or ‘Retained’, we are required to use a Logistic model to achieve the desired results.</a:t>
            </a:r>
          </a:p>
        </p:txBody>
      </p:sp>
    </p:spTree>
    <p:extLst>
      <p:ext uri="{BB962C8B-B14F-4D97-AF65-F5344CB8AC3E}">
        <p14:creationId xmlns:p14="http://schemas.microsoft.com/office/powerpoint/2010/main" val="275618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95390"/>
            <a:ext cx="9404723" cy="960446"/>
          </a:xfrm>
        </p:spPr>
        <p:txBody>
          <a:bodyPr>
            <a:normAutofit/>
          </a:bodyPr>
          <a:lstStyle/>
          <a:p>
            <a:pPr algn="ctr"/>
            <a:r>
              <a:rPr lang="en-US" sz="1800" dirty="0">
                <a:solidFill>
                  <a:schemeClr val="bg1"/>
                </a:solidFill>
              </a:rPr>
              <a:t>Data</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1141411" y="4786566"/>
            <a:ext cx="9905998" cy="1411092"/>
          </a:xfrm>
        </p:spPr>
        <p:txBody>
          <a:bodyPr>
            <a:normAutofit/>
          </a:bodyPr>
          <a:lstStyle/>
          <a:p>
            <a:pPr marL="0" indent="0">
              <a:buNone/>
            </a:pPr>
            <a:r>
              <a:rPr lang="en-US" sz="1200" dirty="0">
                <a:solidFill>
                  <a:schemeClr val="bg1"/>
                </a:solidFill>
                <a:latin typeface="Abadi" panose="020B0604020202020204" pitchFamily="34" charset="0"/>
              </a:rPr>
              <a:t>Multiple variables exist within the data set for us to build our model with. Given that we are attempting to predict our Churn rate, that will be our selected y (dependent) variable. Further analysis is needed to determine the proper inclusion of independent variables.</a:t>
            </a:r>
          </a:p>
        </p:txBody>
      </p:sp>
      <p:pic>
        <p:nvPicPr>
          <p:cNvPr id="3" name="Picture 2" descr="Table&#10;&#10;Description automatically generated">
            <a:extLst>
              <a:ext uri="{FF2B5EF4-FFF2-40B4-BE49-F238E27FC236}">
                <a16:creationId xmlns:a16="http://schemas.microsoft.com/office/drawing/2014/main" id="{C29AD0EF-47AC-4D17-8051-9E1E33E07421}"/>
              </a:ext>
            </a:extLst>
          </p:cNvPr>
          <p:cNvPicPr>
            <a:picLocks noChangeAspect="1"/>
          </p:cNvPicPr>
          <p:nvPr/>
        </p:nvPicPr>
        <p:blipFill>
          <a:blip r:embed="rId2"/>
          <a:stretch>
            <a:fillRect/>
          </a:stretch>
        </p:blipFill>
        <p:spPr>
          <a:xfrm>
            <a:off x="1496825" y="950450"/>
            <a:ext cx="9195171" cy="3254592"/>
          </a:xfrm>
          <a:prstGeom prst="rect">
            <a:avLst/>
          </a:prstGeom>
        </p:spPr>
      </p:pic>
      <p:pic>
        <p:nvPicPr>
          <p:cNvPr id="6" name="Picture 5">
            <a:extLst>
              <a:ext uri="{FF2B5EF4-FFF2-40B4-BE49-F238E27FC236}">
                <a16:creationId xmlns:a16="http://schemas.microsoft.com/office/drawing/2014/main" id="{41A3B738-2D3F-416A-B1A0-1048B0C15987}"/>
              </a:ext>
            </a:extLst>
          </p:cNvPr>
          <p:cNvPicPr>
            <a:picLocks noChangeAspect="1"/>
          </p:cNvPicPr>
          <p:nvPr/>
        </p:nvPicPr>
        <p:blipFill>
          <a:blip r:embed="rId3"/>
          <a:stretch>
            <a:fillRect/>
          </a:stretch>
        </p:blipFill>
        <p:spPr>
          <a:xfrm>
            <a:off x="1496825" y="4205042"/>
            <a:ext cx="9195171" cy="477290"/>
          </a:xfrm>
          <a:prstGeom prst="rect">
            <a:avLst/>
          </a:prstGeom>
        </p:spPr>
      </p:pic>
    </p:spTree>
    <p:extLst>
      <p:ext uri="{BB962C8B-B14F-4D97-AF65-F5344CB8AC3E}">
        <p14:creationId xmlns:p14="http://schemas.microsoft.com/office/powerpoint/2010/main" val="606330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95390"/>
            <a:ext cx="9404723" cy="960446"/>
          </a:xfrm>
        </p:spPr>
        <p:txBody>
          <a:bodyPr>
            <a:normAutofit/>
          </a:bodyPr>
          <a:lstStyle/>
          <a:p>
            <a:pPr algn="ctr"/>
            <a:r>
              <a:rPr lang="en-US" sz="1800" dirty="0">
                <a:solidFill>
                  <a:schemeClr val="bg1"/>
                </a:solidFill>
              </a:rPr>
              <a:t>Data Partitioning</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1141413" y="3381167"/>
            <a:ext cx="9905998" cy="1411092"/>
          </a:xfrm>
        </p:spPr>
        <p:txBody>
          <a:bodyPr>
            <a:normAutofit/>
          </a:bodyPr>
          <a:lstStyle/>
          <a:p>
            <a:pPr marL="0" indent="0">
              <a:buNone/>
            </a:pPr>
            <a:r>
              <a:rPr lang="en-US" sz="1200" dirty="0">
                <a:solidFill>
                  <a:schemeClr val="bg1"/>
                </a:solidFill>
                <a:latin typeface="Abadi" panose="020B0604020202020204" pitchFamily="34" charset="0"/>
              </a:rPr>
              <a:t>In the first part of this task, we partitioned the data between the training and testing set within the provided CSV file provided, aliased as ‘YOURDATA’. This is done in an effort increase stability within the model as well as increase computational efficiency following the establishment of input/output mapping.</a:t>
            </a:r>
          </a:p>
          <a:p>
            <a:pPr marL="0" indent="0">
              <a:buNone/>
            </a:pPr>
            <a:r>
              <a:rPr lang="en-US" sz="1200" dirty="0">
                <a:solidFill>
                  <a:schemeClr val="bg1"/>
                </a:solidFill>
                <a:latin typeface="Abadi" panose="020B0604020202020204" pitchFamily="34" charset="0"/>
              </a:rPr>
              <a:t>As we can see above, we establish the percentage split into train at 70% of the original YOURDATA dataset:</a:t>
            </a:r>
          </a:p>
          <a:p>
            <a:pPr marL="0" indent="0">
              <a:buNone/>
            </a:pPr>
            <a:r>
              <a:rPr lang="en-US" sz="1200" i="1" dirty="0">
                <a:solidFill>
                  <a:schemeClr val="bg1"/>
                </a:solidFill>
                <a:latin typeface="Abadi" panose="020B0604020202020204" pitchFamily="34" charset="0"/>
              </a:rPr>
              <a:t>Ex. </a:t>
            </a:r>
            <a:r>
              <a:rPr lang="en-US" sz="1000" i="1" dirty="0">
                <a:solidFill>
                  <a:schemeClr val="bg1"/>
                </a:solidFill>
                <a:latin typeface="Abadi" panose="020B0604020202020204" pitchFamily="34" charset="0"/>
              </a:rPr>
              <a:t>(</a:t>
            </a:r>
            <a:r>
              <a:rPr lang="en-US" sz="1000" i="1" dirty="0" err="1">
                <a:solidFill>
                  <a:schemeClr val="bg1"/>
                </a:solidFill>
                <a:latin typeface="Abadi" panose="020B0604020202020204" pitchFamily="34" charset="0"/>
              </a:rPr>
              <a:t>intrain</a:t>
            </a:r>
            <a:r>
              <a:rPr lang="en-US" sz="1000" i="1" dirty="0">
                <a:solidFill>
                  <a:schemeClr val="bg1"/>
                </a:solidFill>
                <a:latin typeface="Abadi" panose="020B0604020202020204" pitchFamily="34" charset="0"/>
              </a:rPr>
              <a:t> &lt;- </a:t>
            </a:r>
            <a:r>
              <a:rPr lang="en-US" sz="1000" i="1" dirty="0" err="1">
                <a:solidFill>
                  <a:schemeClr val="bg1"/>
                </a:solidFill>
                <a:latin typeface="Abadi" panose="020B0604020202020204" pitchFamily="34" charset="0"/>
              </a:rPr>
              <a:t>createDataPartition</a:t>
            </a:r>
            <a:r>
              <a:rPr lang="en-US" sz="1000" i="1" dirty="0">
                <a:solidFill>
                  <a:schemeClr val="bg1"/>
                </a:solidFill>
                <a:latin typeface="Abadi" panose="020B0604020202020204" pitchFamily="34" charset="0"/>
              </a:rPr>
              <a:t>(</a:t>
            </a:r>
            <a:r>
              <a:rPr lang="en-US" sz="1000" i="1" dirty="0" err="1">
                <a:solidFill>
                  <a:schemeClr val="bg1"/>
                </a:solidFill>
                <a:latin typeface="Abadi" panose="020B0604020202020204" pitchFamily="34" charset="0"/>
              </a:rPr>
              <a:t>YOURDATA$Churn,p</a:t>
            </a:r>
            <a:r>
              <a:rPr lang="en-US" sz="1000" i="1" dirty="0">
                <a:solidFill>
                  <a:schemeClr val="bg1"/>
                </a:solidFill>
                <a:latin typeface="Abadi" panose="020B0604020202020204" pitchFamily="34" charset="0"/>
              </a:rPr>
              <a:t>=0.7,list=FALSE</a:t>
            </a:r>
            <a:r>
              <a:rPr lang="en-US" sz="1000" dirty="0">
                <a:solidFill>
                  <a:schemeClr val="bg1"/>
                </a:solidFill>
                <a:latin typeface="Abadi" panose="020B0604020202020204" pitchFamily="34" charset="0"/>
              </a:rPr>
              <a:t>)</a:t>
            </a:r>
            <a:r>
              <a:rPr lang="en-US" sz="1200" dirty="0">
                <a:solidFill>
                  <a:schemeClr val="bg1"/>
                </a:solidFill>
                <a:latin typeface="Abadi" panose="020B0604020202020204" pitchFamily="34" charset="0"/>
              </a:rPr>
              <a:t>.</a:t>
            </a:r>
          </a:p>
        </p:txBody>
      </p:sp>
      <p:pic>
        <p:nvPicPr>
          <p:cNvPr id="3" name="Picture 2" descr="Text&#10;&#10;Description automatically generated with low confidence">
            <a:extLst>
              <a:ext uri="{FF2B5EF4-FFF2-40B4-BE49-F238E27FC236}">
                <a16:creationId xmlns:a16="http://schemas.microsoft.com/office/drawing/2014/main" id="{661A386D-828B-4202-AFC2-BC99D7DCA7F3}"/>
              </a:ext>
            </a:extLst>
          </p:cNvPr>
          <p:cNvPicPr>
            <a:picLocks noChangeAspect="1"/>
          </p:cNvPicPr>
          <p:nvPr/>
        </p:nvPicPr>
        <p:blipFill>
          <a:blip r:embed="rId2"/>
          <a:stretch>
            <a:fillRect/>
          </a:stretch>
        </p:blipFill>
        <p:spPr>
          <a:xfrm>
            <a:off x="3417887" y="1435168"/>
            <a:ext cx="5353050" cy="952500"/>
          </a:xfrm>
          <a:prstGeom prst="rect">
            <a:avLst/>
          </a:prstGeom>
        </p:spPr>
      </p:pic>
    </p:spTree>
    <p:extLst>
      <p:ext uri="{BB962C8B-B14F-4D97-AF65-F5344CB8AC3E}">
        <p14:creationId xmlns:p14="http://schemas.microsoft.com/office/powerpoint/2010/main" val="222946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95390"/>
            <a:ext cx="9404723" cy="960446"/>
          </a:xfrm>
        </p:spPr>
        <p:txBody>
          <a:bodyPr>
            <a:normAutofit/>
          </a:bodyPr>
          <a:lstStyle/>
          <a:p>
            <a:pPr algn="ctr"/>
            <a:r>
              <a:rPr lang="en-US" sz="1800" dirty="0">
                <a:solidFill>
                  <a:schemeClr val="bg1"/>
                </a:solidFill>
              </a:rPr>
              <a:t>Training Model Fit</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4832822" y="1297069"/>
            <a:ext cx="5988176" cy="4788291"/>
          </a:xfrm>
        </p:spPr>
        <p:txBody>
          <a:bodyPr>
            <a:normAutofit/>
          </a:bodyPr>
          <a:lstStyle/>
          <a:p>
            <a:pPr marL="0" indent="0">
              <a:buNone/>
            </a:pPr>
            <a:r>
              <a:rPr lang="en-US" sz="1200" dirty="0">
                <a:solidFill>
                  <a:schemeClr val="bg1"/>
                </a:solidFill>
                <a:latin typeface="Abadi" panose="020B0604020202020204" pitchFamily="34" charset="0"/>
              </a:rPr>
              <a:t>After the data is partitioned between test and train, we can use the train set to fit a Logistical Regression model. By running a summary on that model with R we can observe the impact of all independent variables, including the intercept, on the dependent variable. R’s output will be used in the construction of an actual Logistical Regression model based on statistical significance and coefficients.</a:t>
            </a:r>
          </a:p>
          <a:p>
            <a:pPr marL="0" indent="0">
              <a:buNone/>
            </a:pPr>
            <a:endParaRPr lang="en-US" sz="1200" dirty="0">
              <a:solidFill>
                <a:schemeClr val="bg1"/>
              </a:solidFill>
              <a:latin typeface="Abadi" panose="020B0604020202020204" pitchFamily="34" charset="0"/>
            </a:endParaRPr>
          </a:p>
          <a:p>
            <a:pPr marL="0" indent="0">
              <a:buNone/>
            </a:pPr>
            <a:r>
              <a:rPr lang="en-US" sz="1200" dirty="0">
                <a:solidFill>
                  <a:schemeClr val="bg1"/>
                </a:solidFill>
                <a:latin typeface="Abadi" panose="020B0604020202020204" pitchFamily="34" charset="0"/>
              </a:rPr>
              <a:t>Based on the outputs, the statistically significant variables relative to predicting Churn are as follows:</a:t>
            </a:r>
          </a:p>
          <a:p>
            <a:pPr>
              <a:buFontTx/>
              <a:buChar char="-"/>
            </a:pPr>
            <a:r>
              <a:rPr lang="en-US" sz="1200" dirty="0">
                <a:solidFill>
                  <a:schemeClr val="bg1"/>
                </a:solidFill>
                <a:latin typeface="Abadi" panose="020B0604020202020204" pitchFamily="34" charset="0"/>
              </a:rPr>
              <a:t>- Senior Citizen (Yes)</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Multiple Lines (Yes)</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Internet Service (Fiber Optic)</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Internet Service (No)</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Streaming TV (Yes)</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Streaming Movies (Yes)</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Contract (One Year)</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Contract (Two Year)</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Paperless Billing (Yes)</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Payment Method (Electronic Check)</a:t>
            </a:r>
            <a:br>
              <a:rPr lang="en-US" sz="1200" dirty="0">
                <a:solidFill>
                  <a:schemeClr val="bg1"/>
                </a:solidFill>
                <a:latin typeface="Abadi" panose="020B0604020202020204" pitchFamily="34" charset="0"/>
              </a:rPr>
            </a:br>
            <a:r>
              <a:rPr lang="en-US" sz="1200" dirty="0">
                <a:solidFill>
                  <a:schemeClr val="bg1"/>
                </a:solidFill>
                <a:latin typeface="Abadi" panose="020B0604020202020204" pitchFamily="34" charset="0"/>
              </a:rPr>
              <a:t>- Tenure Group (0-12 Months)</a:t>
            </a:r>
          </a:p>
          <a:p>
            <a:pPr>
              <a:buFontTx/>
              <a:buChar char="-"/>
            </a:pPr>
            <a:endParaRPr lang="en-US" sz="1200" dirty="0">
              <a:solidFill>
                <a:schemeClr val="bg1"/>
              </a:solidFill>
              <a:latin typeface="Abadi" panose="020B0604020202020204" pitchFamily="34" charset="0"/>
            </a:endParaRPr>
          </a:p>
        </p:txBody>
      </p:sp>
      <p:pic>
        <p:nvPicPr>
          <p:cNvPr id="4" name="Picture 3" descr="Table&#10;&#10;Description automatically generated">
            <a:extLst>
              <a:ext uri="{FF2B5EF4-FFF2-40B4-BE49-F238E27FC236}">
                <a16:creationId xmlns:a16="http://schemas.microsoft.com/office/drawing/2014/main" id="{75786258-8F28-42D1-A88A-864C0A3F99AE}"/>
              </a:ext>
            </a:extLst>
          </p:cNvPr>
          <p:cNvPicPr>
            <a:picLocks noChangeAspect="1"/>
          </p:cNvPicPr>
          <p:nvPr/>
        </p:nvPicPr>
        <p:blipFill>
          <a:blip r:embed="rId2"/>
          <a:stretch>
            <a:fillRect/>
          </a:stretch>
        </p:blipFill>
        <p:spPr>
          <a:xfrm>
            <a:off x="611060" y="1297069"/>
            <a:ext cx="3116679" cy="3982423"/>
          </a:xfrm>
          <a:prstGeom prst="rect">
            <a:avLst/>
          </a:prstGeom>
        </p:spPr>
      </p:pic>
    </p:spTree>
    <p:extLst>
      <p:ext uri="{BB962C8B-B14F-4D97-AF65-F5344CB8AC3E}">
        <p14:creationId xmlns:p14="http://schemas.microsoft.com/office/powerpoint/2010/main" val="1042243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95390"/>
            <a:ext cx="9404723" cy="960446"/>
          </a:xfrm>
        </p:spPr>
        <p:txBody>
          <a:bodyPr>
            <a:normAutofit/>
          </a:bodyPr>
          <a:lstStyle/>
          <a:p>
            <a:pPr algn="ctr"/>
            <a:r>
              <a:rPr lang="en-US" sz="1800" dirty="0">
                <a:solidFill>
                  <a:schemeClr val="bg1"/>
                </a:solidFill>
              </a:rPr>
              <a:t>Evaluating the Train Fit – Statistical Significance</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4832822" y="1297069"/>
            <a:ext cx="5988176" cy="4788291"/>
          </a:xfrm>
        </p:spPr>
        <p:txBody>
          <a:bodyPr>
            <a:normAutofit/>
          </a:bodyPr>
          <a:lstStyle/>
          <a:p>
            <a:pPr marL="0" indent="0">
              <a:buNone/>
            </a:pPr>
            <a:r>
              <a:rPr lang="en-US" sz="1200" dirty="0">
                <a:solidFill>
                  <a:schemeClr val="bg1"/>
                </a:solidFill>
                <a:latin typeface="Abadi" panose="020B0604020202020204" pitchFamily="34" charset="0"/>
              </a:rPr>
              <a:t>Statistically significant output variables result in a p-value, (</a:t>
            </a:r>
            <a:r>
              <a:rPr lang="en-US" sz="1200" dirty="0" err="1">
                <a:solidFill>
                  <a:schemeClr val="bg1"/>
                </a:solidFill>
                <a:latin typeface="Abadi" panose="020B0604020202020204" pitchFamily="34" charset="0"/>
              </a:rPr>
              <a:t>Pr</a:t>
            </a:r>
            <a:r>
              <a:rPr lang="en-US" sz="1200" dirty="0">
                <a:solidFill>
                  <a:schemeClr val="bg1"/>
                </a:solidFill>
                <a:latin typeface="Abadi" panose="020B0604020202020204" pitchFamily="34" charset="0"/>
              </a:rPr>
              <a:t>(&gt;|z|), of less than .05, the standard of statistical significance (alpha = .05). In these cases, we reject the null hypothesis - meaning their sample observed impact on the variation of Churn (y) = (0.0 ≤ y ≤ 1.0) was determined statistically significant or different from the proposed null hypothesis of zero impact.</a:t>
            </a:r>
          </a:p>
          <a:p>
            <a:pPr marL="0" indent="0" algn="ctr">
              <a:buNone/>
            </a:pPr>
            <a:r>
              <a:rPr lang="en-US" sz="1200" dirty="0">
                <a:solidFill>
                  <a:schemeClr val="bg1"/>
                </a:solidFill>
                <a:latin typeface="Abadi" panose="020B0604020202020204" pitchFamily="34" charset="0"/>
              </a:rPr>
              <a:t>(</a:t>
            </a:r>
            <a:r>
              <a:rPr lang="en-US" sz="1200" b="1" i="1" dirty="0">
                <a:solidFill>
                  <a:schemeClr val="bg1"/>
                </a:solidFill>
                <a:latin typeface="Abadi" panose="020B0604020202020204" pitchFamily="34" charset="0"/>
              </a:rPr>
              <a:t>Hypothesis Test:</a:t>
            </a:r>
            <a:r>
              <a:rPr lang="en-US" sz="1200" dirty="0">
                <a:solidFill>
                  <a:schemeClr val="bg1"/>
                </a:solidFill>
                <a:latin typeface="Abadi" panose="020B0604020202020204" pitchFamily="34" charset="0"/>
              </a:rPr>
              <a:t> H0: b0 = 0 </a:t>
            </a:r>
            <a:r>
              <a:rPr lang="en-US" sz="1200" b="1" dirty="0">
                <a:solidFill>
                  <a:schemeClr val="bg1"/>
                </a:solidFill>
                <a:latin typeface="Abadi" panose="020B0604020202020204" pitchFamily="34" charset="0"/>
              </a:rPr>
              <a:t>vs</a:t>
            </a:r>
            <a:r>
              <a:rPr lang="en-US" sz="1200" dirty="0">
                <a:solidFill>
                  <a:schemeClr val="bg1"/>
                </a:solidFill>
                <a:latin typeface="Abadi" panose="020B0604020202020204" pitchFamily="34" charset="0"/>
              </a:rPr>
              <a:t> H1: b1 != 0).</a:t>
            </a:r>
          </a:p>
          <a:p>
            <a:pPr marL="0" indent="0">
              <a:buNone/>
            </a:pPr>
            <a:r>
              <a:rPr lang="en-US" sz="1200" dirty="0">
                <a:solidFill>
                  <a:schemeClr val="bg1"/>
                </a:solidFill>
                <a:latin typeface="Abadi" panose="020B0604020202020204" pitchFamily="34" charset="0"/>
              </a:rPr>
              <a:t>When we reject the null hypothesis under these circumstances, we are declaring that a less than a 5% chance exists that each of these items do not impact our dependent variable.</a:t>
            </a:r>
          </a:p>
        </p:txBody>
      </p:sp>
      <p:pic>
        <p:nvPicPr>
          <p:cNvPr id="3" name="Picture 2" descr="Graphical user interface, application, table&#10;&#10;Description automatically generated">
            <a:extLst>
              <a:ext uri="{FF2B5EF4-FFF2-40B4-BE49-F238E27FC236}">
                <a16:creationId xmlns:a16="http://schemas.microsoft.com/office/drawing/2014/main" id="{B49EA66B-2692-4386-A161-905DB53A2658}"/>
              </a:ext>
            </a:extLst>
          </p:cNvPr>
          <p:cNvPicPr>
            <a:picLocks noChangeAspect="1"/>
          </p:cNvPicPr>
          <p:nvPr/>
        </p:nvPicPr>
        <p:blipFill>
          <a:blip r:embed="rId2"/>
          <a:stretch>
            <a:fillRect/>
          </a:stretch>
        </p:blipFill>
        <p:spPr>
          <a:xfrm>
            <a:off x="442075" y="1796279"/>
            <a:ext cx="4083889" cy="3265441"/>
          </a:xfrm>
          <a:prstGeom prst="rect">
            <a:avLst/>
          </a:prstGeom>
        </p:spPr>
      </p:pic>
    </p:spTree>
    <p:extLst>
      <p:ext uri="{BB962C8B-B14F-4D97-AF65-F5344CB8AC3E}">
        <p14:creationId xmlns:p14="http://schemas.microsoft.com/office/powerpoint/2010/main" val="3001612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95390"/>
            <a:ext cx="9404723" cy="960446"/>
          </a:xfrm>
        </p:spPr>
        <p:txBody>
          <a:bodyPr>
            <a:normAutofit/>
          </a:bodyPr>
          <a:lstStyle/>
          <a:p>
            <a:pPr algn="ctr"/>
            <a:r>
              <a:rPr lang="en-US" sz="1800" dirty="0">
                <a:solidFill>
                  <a:schemeClr val="bg1"/>
                </a:solidFill>
              </a:rPr>
              <a:t>Evaluating the Train Fit – Regression Coefficients</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4832822" y="1297069"/>
            <a:ext cx="5988176" cy="4788291"/>
          </a:xfrm>
        </p:spPr>
        <p:txBody>
          <a:bodyPr>
            <a:normAutofit/>
          </a:bodyPr>
          <a:lstStyle/>
          <a:p>
            <a:pPr marL="0" indent="0">
              <a:buNone/>
            </a:pPr>
            <a:r>
              <a:rPr lang="en-US" sz="1200" dirty="0">
                <a:solidFill>
                  <a:schemeClr val="bg1"/>
                </a:solidFill>
                <a:latin typeface="Abadi" panose="020B0604020202020204" pitchFamily="34" charset="0"/>
              </a:rPr>
              <a:t>Given our list of statistically significant independent variables, we can also look at the coefficient ‘estimate’ in the R output and determine the scale of the impact each variable has on our model. For example, our Senior Citizen (Yes) variable hold a coefficient of 2.216e-01 while our Contract (One Year) sits at -7.506e-01. Based on these values, coupled with the parameters that a Churn = 1 = Churned and Churn = 0 = Not Churned, we can determine that the status of being a Senior Citizen positively effects the Churn rate (results in more churns, as x increases y increases) while One Year Contracts negatively effect the Churn rate (results in less churns, as x increases y decreases).</a:t>
            </a:r>
          </a:p>
          <a:p>
            <a:pPr marL="0" indent="0">
              <a:buNone/>
            </a:pPr>
            <a:r>
              <a:rPr lang="en-US" sz="1200" dirty="0">
                <a:solidFill>
                  <a:schemeClr val="bg1"/>
                </a:solidFill>
                <a:latin typeface="Abadi" panose="020B0604020202020204" pitchFamily="34" charset="0"/>
              </a:rPr>
              <a:t>We can further analyze these numbers by interpreting their relative scale. By viewing the coefficients as a weight for x multiplication, we can easily see that having been a One Year contract customer has 3 times the impact on churn rate relative to being a Senior Citizen. In practice, this means that holding a one year contract has a much greater effect on reducing Churn rate than Senior Citizen designations have on increasing it.</a:t>
            </a:r>
          </a:p>
        </p:txBody>
      </p:sp>
      <p:pic>
        <p:nvPicPr>
          <p:cNvPr id="3" name="Picture 2" descr="Graphical user interface, application, table&#10;&#10;Description automatically generated">
            <a:extLst>
              <a:ext uri="{FF2B5EF4-FFF2-40B4-BE49-F238E27FC236}">
                <a16:creationId xmlns:a16="http://schemas.microsoft.com/office/drawing/2014/main" id="{B49EA66B-2692-4386-A161-905DB53A2658}"/>
              </a:ext>
            </a:extLst>
          </p:cNvPr>
          <p:cNvPicPr>
            <a:picLocks noChangeAspect="1"/>
          </p:cNvPicPr>
          <p:nvPr/>
        </p:nvPicPr>
        <p:blipFill>
          <a:blip r:embed="rId2"/>
          <a:stretch>
            <a:fillRect/>
          </a:stretch>
        </p:blipFill>
        <p:spPr>
          <a:xfrm>
            <a:off x="442075" y="1796279"/>
            <a:ext cx="4083889" cy="3265441"/>
          </a:xfrm>
          <a:prstGeom prst="rect">
            <a:avLst/>
          </a:prstGeom>
        </p:spPr>
      </p:pic>
    </p:spTree>
    <p:extLst>
      <p:ext uri="{BB962C8B-B14F-4D97-AF65-F5344CB8AC3E}">
        <p14:creationId xmlns:p14="http://schemas.microsoft.com/office/powerpoint/2010/main" val="3882940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10645"/>
            <a:ext cx="9404723" cy="960446"/>
          </a:xfrm>
        </p:spPr>
        <p:txBody>
          <a:bodyPr>
            <a:normAutofit/>
          </a:bodyPr>
          <a:lstStyle/>
          <a:p>
            <a:pPr algn="ctr"/>
            <a:r>
              <a:rPr lang="en-US" sz="1800" dirty="0">
                <a:solidFill>
                  <a:schemeClr val="bg1"/>
                </a:solidFill>
              </a:rPr>
              <a:t>Executing the Test Fit</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919852" y="2663106"/>
            <a:ext cx="10352292" cy="3442277"/>
          </a:xfrm>
        </p:spPr>
        <p:txBody>
          <a:bodyPr>
            <a:normAutofit/>
          </a:bodyPr>
          <a:lstStyle/>
          <a:p>
            <a:pPr marL="0" indent="0">
              <a:buNone/>
            </a:pPr>
            <a:r>
              <a:rPr lang="en-US" sz="1200" dirty="0">
                <a:solidFill>
                  <a:schemeClr val="bg1"/>
                </a:solidFill>
                <a:latin typeface="Abadi" panose="020B0604020202020204" pitchFamily="34" charset="0"/>
              </a:rPr>
              <a:t>Now that we have run and analyzed the training data partition, we can run and apply the testing partition within the model. Here we get an accuracy return of .7989 (79.89%) accuracy for the model. This means that when our model predicts a customer churn, it predicts correctly 79.89% of the time.</a:t>
            </a:r>
          </a:p>
          <a:p>
            <a:pPr marL="0" indent="0">
              <a:buNone/>
            </a:pPr>
            <a:r>
              <a:rPr lang="en-US" sz="1200" dirty="0">
                <a:solidFill>
                  <a:schemeClr val="bg1"/>
                </a:solidFill>
                <a:latin typeface="Abadi" panose="020B0604020202020204" pitchFamily="34" charset="0"/>
              </a:rPr>
              <a:t>As you can see from the above scripts, this .7989 accuracy also implies that the model error is equivalent to 1-.7989 (i.e. 1-p) = .2011 = 20.11%. This is a like measurement to a linear regression equations R^2 value that determines the percent representation of variation within the model.</a:t>
            </a:r>
          </a:p>
        </p:txBody>
      </p:sp>
      <p:pic>
        <p:nvPicPr>
          <p:cNvPr id="4" name="Picture 3" descr="Text, letter&#10;&#10;Description automatically generated">
            <a:extLst>
              <a:ext uri="{FF2B5EF4-FFF2-40B4-BE49-F238E27FC236}">
                <a16:creationId xmlns:a16="http://schemas.microsoft.com/office/drawing/2014/main" id="{45FAACF2-F8DE-40D3-AE32-B4562C051A06}"/>
              </a:ext>
            </a:extLst>
          </p:cNvPr>
          <p:cNvPicPr>
            <a:picLocks noChangeAspect="1"/>
          </p:cNvPicPr>
          <p:nvPr/>
        </p:nvPicPr>
        <p:blipFill>
          <a:blip r:embed="rId2"/>
          <a:stretch>
            <a:fillRect/>
          </a:stretch>
        </p:blipFill>
        <p:spPr>
          <a:xfrm>
            <a:off x="4052886" y="2005395"/>
            <a:ext cx="4086225" cy="1104900"/>
          </a:xfrm>
          <a:prstGeom prst="rect">
            <a:avLst/>
          </a:prstGeom>
        </p:spPr>
      </p:pic>
    </p:spTree>
    <p:extLst>
      <p:ext uri="{BB962C8B-B14F-4D97-AF65-F5344CB8AC3E}">
        <p14:creationId xmlns:p14="http://schemas.microsoft.com/office/powerpoint/2010/main" val="12811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8" y="110645"/>
            <a:ext cx="9404723" cy="960446"/>
          </a:xfrm>
        </p:spPr>
        <p:txBody>
          <a:bodyPr>
            <a:normAutofit/>
          </a:bodyPr>
          <a:lstStyle/>
          <a:p>
            <a:pPr algn="ctr"/>
            <a:r>
              <a:rPr lang="en-US" sz="1800" dirty="0">
                <a:solidFill>
                  <a:schemeClr val="bg1"/>
                </a:solidFill>
              </a:rPr>
              <a:t>Creating your prediction Model</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919853" y="1782078"/>
            <a:ext cx="10352292" cy="3442277"/>
          </a:xfrm>
        </p:spPr>
        <p:txBody>
          <a:bodyPr>
            <a:normAutofit/>
          </a:bodyPr>
          <a:lstStyle/>
          <a:p>
            <a:pPr marL="0" indent="0">
              <a:buNone/>
            </a:pPr>
            <a:r>
              <a:rPr lang="en-US" sz="1100" dirty="0">
                <a:solidFill>
                  <a:schemeClr val="bg1"/>
                </a:solidFill>
                <a:latin typeface="Abadi" panose="020B0604020202020204" pitchFamily="34" charset="0"/>
              </a:rPr>
              <a:t>With the information gather up to this point, it is possible for use to write a valid Logistic Regression Model based on statistically significant variables and their </a:t>
            </a:r>
            <a:r>
              <a:rPr lang="en-US" sz="1100" dirty="0" err="1">
                <a:solidFill>
                  <a:schemeClr val="bg1"/>
                </a:solidFill>
                <a:latin typeface="Abadi" panose="020B0604020202020204" pitchFamily="34" charset="0"/>
              </a:rPr>
              <a:t>coefficiencts</a:t>
            </a:r>
            <a:r>
              <a:rPr lang="en-US" sz="1100" dirty="0">
                <a:solidFill>
                  <a:schemeClr val="bg1"/>
                </a:solidFill>
                <a:latin typeface="Abadi" panose="020B0604020202020204" pitchFamily="34" charset="0"/>
              </a:rPr>
              <a:t>. This model, minus the Error, will account for approximately 80% of the total variation for the prediction of Churn rate. Note that the intercept was not noted as a significant value and has been omitted from the model.</a:t>
            </a:r>
          </a:p>
          <a:p>
            <a:pPr marL="0" indent="0">
              <a:buNone/>
            </a:pPr>
            <a:r>
              <a:rPr lang="es-ES" sz="1100" b="1" i="1" dirty="0">
                <a:solidFill>
                  <a:schemeClr val="bg1"/>
                </a:solidFill>
                <a:latin typeface="Abadi" panose="020B0604020202020204" pitchFamily="34" charset="0"/>
              </a:rPr>
              <a:t>Log( p(y=1) / 1-p(y=1) ) = </a:t>
            </a:r>
            <a:r>
              <a:rPr lang="es-ES" sz="1100" i="1" dirty="0" err="1">
                <a:solidFill>
                  <a:schemeClr val="bg1"/>
                </a:solidFill>
                <a:latin typeface="Abadi" panose="020B0604020202020204" pitchFamily="34" charset="0"/>
              </a:rPr>
              <a:t>Logistic</a:t>
            </a:r>
            <a:r>
              <a:rPr lang="es-ES" sz="1100" i="1" dirty="0">
                <a:solidFill>
                  <a:schemeClr val="bg1"/>
                </a:solidFill>
                <a:latin typeface="Abadi" panose="020B0604020202020204" pitchFamily="34" charset="0"/>
              </a:rPr>
              <a:t> </a:t>
            </a:r>
            <a:r>
              <a:rPr lang="es-ES" sz="1100" i="1" dirty="0" err="1">
                <a:solidFill>
                  <a:schemeClr val="bg1"/>
                </a:solidFill>
                <a:latin typeface="Abadi" panose="020B0604020202020204" pitchFamily="34" charset="0"/>
              </a:rPr>
              <a:t>Regression</a:t>
            </a:r>
            <a:r>
              <a:rPr lang="es-ES" sz="1100" i="1" dirty="0">
                <a:solidFill>
                  <a:schemeClr val="bg1"/>
                </a:solidFill>
                <a:latin typeface="Abadi" panose="020B0604020202020204" pitchFamily="34" charset="0"/>
              </a:rPr>
              <a:t> </a:t>
            </a:r>
            <a:r>
              <a:rPr lang="es-ES" sz="1100" i="1" dirty="0" err="1">
                <a:solidFill>
                  <a:schemeClr val="bg1"/>
                </a:solidFill>
                <a:latin typeface="Abadi" panose="020B0604020202020204" pitchFamily="34" charset="0"/>
              </a:rPr>
              <a:t>Model</a:t>
            </a:r>
            <a:endParaRPr lang="es-ES" sz="1100" i="1" dirty="0">
              <a:solidFill>
                <a:schemeClr val="bg1"/>
              </a:solidFill>
              <a:latin typeface="Abadi" panose="020B0604020202020204" pitchFamily="34" charset="0"/>
            </a:endParaRPr>
          </a:p>
          <a:p>
            <a:pPr marL="0" indent="0">
              <a:buNone/>
            </a:pPr>
            <a:r>
              <a:rPr lang="es-ES" sz="1100" b="1" i="1" dirty="0">
                <a:solidFill>
                  <a:schemeClr val="bg1"/>
                </a:solidFill>
                <a:latin typeface="Abadi" panose="020B0604020202020204" pitchFamily="34" charset="0"/>
              </a:rPr>
              <a:t>Log( p(y=1) / 1-p(y=1) ) = </a:t>
            </a:r>
            <a:r>
              <a:rPr lang="es-ES" sz="1100" i="1" dirty="0">
                <a:solidFill>
                  <a:schemeClr val="bg1"/>
                </a:solidFill>
                <a:latin typeface="Abadi" panose="020B0604020202020204" pitchFamily="34" charset="0"/>
              </a:rPr>
              <a:t>(b + ( b1*x1) + (b2*x2) … = (e^(b+(b1*x1) + (b2*x2))) / (1 + e^(b+(b1*x1) + (b2*x2))) </a:t>
            </a:r>
          </a:p>
          <a:p>
            <a:pPr marL="0" indent="0">
              <a:buNone/>
            </a:pPr>
            <a:r>
              <a:rPr lang="en-US" sz="1100" b="1" i="1" dirty="0">
                <a:solidFill>
                  <a:schemeClr val="bg1"/>
                </a:solidFill>
                <a:latin typeface="Abadi" panose="020B0604020202020204" pitchFamily="34" charset="0"/>
              </a:rPr>
              <a:t>Probability of y</a:t>
            </a:r>
            <a:r>
              <a:rPr lang="en-US" sz="1100" i="1" dirty="0">
                <a:solidFill>
                  <a:schemeClr val="bg1"/>
                </a:solidFill>
                <a:latin typeface="Abadi" panose="020B0604020202020204" pitchFamily="34" charset="0"/>
              </a:rPr>
              <a:t> = e^((2.216e-01*(</a:t>
            </a:r>
            <a:r>
              <a:rPr lang="en-US" sz="1100" i="1" dirty="0" err="1">
                <a:solidFill>
                  <a:schemeClr val="bg1"/>
                </a:solidFill>
                <a:latin typeface="Abadi" panose="020B0604020202020204" pitchFamily="34" charset="0"/>
              </a:rPr>
              <a:t>SeniorCitizen</a:t>
            </a:r>
            <a:r>
              <a:rPr lang="en-US" sz="1100" i="1" dirty="0">
                <a:solidFill>
                  <a:schemeClr val="bg1"/>
                </a:solidFill>
                <a:latin typeface="Abadi" panose="020B0604020202020204" pitchFamily="34" charset="0"/>
              </a:rPr>
              <a:t>-Yes))+(6.283e-01*(</a:t>
            </a:r>
            <a:r>
              <a:rPr lang="en-US" sz="1100" i="1" dirty="0" err="1">
                <a:solidFill>
                  <a:schemeClr val="bg1"/>
                </a:solidFill>
                <a:latin typeface="Abadi" panose="020B0604020202020204" pitchFamily="34" charset="0"/>
              </a:rPr>
              <a:t>MultipleLines</a:t>
            </a:r>
            <a:r>
              <a:rPr lang="en-US" sz="1100" i="1" dirty="0">
                <a:solidFill>
                  <a:schemeClr val="bg1"/>
                </a:solidFill>
                <a:latin typeface="Abadi" panose="020B0604020202020204" pitchFamily="34" charset="0"/>
              </a:rPr>
              <a:t>-Yes))+(2.526e+00*(</a:t>
            </a:r>
            <a:r>
              <a:rPr lang="en-US" sz="1100" i="1" dirty="0" err="1">
                <a:solidFill>
                  <a:schemeClr val="bg1"/>
                </a:solidFill>
                <a:latin typeface="Abadi" panose="020B0604020202020204" pitchFamily="34" charset="0"/>
              </a:rPr>
              <a:t>InternetService</a:t>
            </a:r>
            <a:r>
              <a:rPr lang="en-US" sz="1100" i="1" dirty="0">
                <a:solidFill>
                  <a:schemeClr val="bg1"/>
                </a:solidFill>
                <a:latin typeface="Abadi" panose="020B0604020202020204" pitchFamily="34" charset="0"/>
              </a:rPr>
              <a:t>-Fiber optic))+(-2.390e+00*(</a:t>
            </a:r>
            <a:r>
              <a:rPr lang="en-US" sz="1100" i="1" dirty="0" err="1">
                <a:solidFill>
                  <a:schemeClr val="bg1"/>
                </a:solidFill>
                <a:latin typeface="Abadi" panose="020B0604020202020204" pitchFamily="34" charset="0"/>
              </a:rPr>
              <a:t>InternetService</a:t>
            </a:r>
            <a:r>
              <a:rPr lang="en-US" sz="1100" i="1" dirty="0">
                <a:solidFill>
                  <a:schemeClr val="bg1"/>
                </a:solidFill>
                <a:latin typeface="Abadi" panose="020B0604020202020204" pitchFamily="34" charset="0"/>
              </a:rPr>
              <a:t>-No))+(8.476e-01*(</a:t>
            </a:r>
            <a:r>
              <a:rPr lang="en-US" sz="1100" i="1" dirty="0" err="1">
                <a:solidFill>
                  <a:schemeClr val="bg1"/>
                </a:solidFill>
                <a:latin typeface="Abadi" panose="020B0604020202020204" pitchFamily="34" charset="0"/>
              </a:rPr>
              <a:t>StreamingTV</a:t>
            </a:r>
            <a:r>
              <a:rPr lang="en-US" sz="1100" i="1" dirty="0">
                <a:solidFill>
                  <a:schemeClr val="bg1"/>
                </a:solidFill>
                <a:latin typeface="Abadi" panose="020B0604020202020204" pitchFamily="34" charset="0"/>
              </a:rPr>
              <a:t>-Yes))+(8.342e-01*(</a:t>
            </a:r>
            <a:r>
              <a:rPr lang="en-US" sz="1100" i="1" dirty="0" err="1">
                <a:solidFill>
                  <a:schemeClr val="bg1"/>
                </a:solidFill>
                <a:latin typeface="Abadi" panose="020B0604020202020204" pitchFamily="34" charset="0"/>
              </a:rPr>
              <a:t>StreamingMovies</a:t>
            </a:r>
            <a:r>
              <a:rPr lang="en-US" sz="1100" i="1" dirty="0">
                <a:solidFill>
                  <a:schemeClr val="bg1"/>
                </a:solidFill>
                <a:latin typeface="Abadi" panose="020B0604020202020204" pitchFamily="34" charset="0"/>
              </a:rPr>
              <a:t>-Yes))+(-7.506e-01*(Contract-One year))+(-1.681e+00*(Contract-Two year))+(3.777e-01*(Paperless-</a:t>
            </a:r>
            <a:r>
              <a:rPr lang="en-US" sz="1100" i="1" dirty="0" err="1">
                <a:solidFill>
                  <a:schemeClr val="bg1"/>
                </a:solidFill>
                <a:latin typeface="Abadi" panose="020B0604020202020204" pitchFamily="34" charset="0"/>
              </a:rPr>
              <a:t>BillingYes</a:t>
            </a:r>
            <a:r>
              <a:rPr lang="en-US" sz="1100" i="1" dirty="0">
                <a:solidFill>
                  <a:schemeClr val="bg1"/>
                </a:solidFill>
                <a:latin typeface="Abadi" panose="020B0604020202020204" pitchFamily="34" charset="0"/>
              </a:rPr>
              <a:t>))+(3.441e-01*(</a:t>
            </a:r>
            <a:r>
              <a:rPr lang="en-US" sz="1100" i="1" dirty="0" err="1">
                <a:solidFill>
                  <a:schemeClr val="bg1"/>
                </a:solidFill>
                <a:latin typeface="Abadi" panose="020B0604020202020204" pitchFamily="34" charset="0"/>
              </a:rPr>
              <a:t>PaymentMethod</a:t>
            </a:r>
            <a:r>
              <a:rPr lang="en-US" sz="1100" i="1" dirty="0">
                <a:solidFill>
                  <a:schemeClr val="bg1"/>
                </a:solidFill>
                <a:latin typeface="Abadi" panose="020B0604020202020204" pitchFamily="34" charset="0"/>
              </a:rPr>
              <a:t>-Electronic check))+(1.273e+00*(tenure_group-0-12 Month))+Error)</a:t>
            </a:r>
          </a:p>
          <a:p>
            <a:pPr marL="0" indent="0">
              <a:buNone/>
            </a:pPr>
            <a:endParaRPr lang="en-US" sz="1100" i="1" dirty="0">
              <a:solidFill>
                <a:schemeClr val="bg1"/>
              </a:solidFill>
              <a:latin typeface="Abadi" panose="020B0604020202020204" pitchFamily="34" charset="0"/>
            </a:endParaRPr>
          </a:p>
          <a:p>
            <a:pPr marL="0" indent="0">
              <a:buNone/>
            </a:pPr>
            <a:r>
              <a:rPr lang="en-US" sz="1100" dirty="0">
                <a:solidFill>
                  <a:schemeClr val="bg1"/>
                </a:solidFill>
                <a:latin typeface="Abadi" panose="020B0604020202020204" pitchFamily="34" charset="0"/>
              </a:rPr>
              <a:t>By simulating [0,1] values of categorical and numerical floating values for continuous independent variables, it is possible to predict a percentage return against Churn rate, y. In this instance, no statistically significant independent variable is continuous, so all substituted values will adhere to a [0,1] binary input. This will yield a y return where (0.0 ≤ y ≤ 1.0)</a:t>
            </a:r>
          </a:p>
        </p:txBody>
      </p:sp>
    </p:spTree>
    <p:extLst>
      <p:ext uri="{BB962C8B-B14F-4D97-AF65-F5344CB8AC3E}">
        <p14:creationId xmlns:p14="http://schemas.microsoft.com/office/powerpoint/2010/main" val="2005388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3637" y="250057"/>
            <a:ext cx="9404723" cy="960446"/>
          </a:xfrm>
        </p:spPr>
        <p:txBody>
          <a:bodyPr>
            <a:normAutofit/>
          </a:bodyPr>
          <a:lstStyle/>
          <a:p>
            <a:pPr algn="ctr"/>
            <a:r>
              <a:rPr lang="en-US" sz="1800" dirty="0">
                <a:solidFill>
                  <a:schemeClr val="bg1"/>
                </a:solidFill>
              </a:rPr>
              <a:t>R Inputs and Outputs</a:t>
            </a:r>
          </a:p>
        </p:txBody>
      </p:sp>
      <p:sp>
        <p:nvSpPr>
          <p:cNvPr id="7" name="Content Placeholder 6">
            <a:extLst>
              <a:ext uri="{FF2B5EF4-FFF2-40B4-BE49-F238E27FC236}">
                <a16:creationId xmlns:a16="http://schemas.microsoft.com/office/drawing/2014/main" id="{B2CCC075-F8DB-48C7-966A-F5421552AC85}"/>
              </a:ext>
            </a:extLst>
          </p:cNvPr>
          <p:cNvSpPr>
            <a:spLocks noGrp="1"/>
          </p:cNvSpPr>
          <p:nvPr>
            <p:ph idx="1"/>
          </p:nvPr>
        </p:nvSpPr>
        <p:spPr>
          <a:xfrm>
            <a:off x="3130317" y="2995160"/>
            <a:ext cx="5701175" cy="1356583"/>
          </a:xfrm>
        </p:spPr>
        <p:txBody>
          <a:bodyPr>
            <a:normAutofit/>
          </a:bodyPr>
          <a:lstStyle/>
          <a:p>
            <a:pPr marL="0" indent="0">
              <a:buNone/>
            </a:pPr>
            <a:endParaRPr lang="en-US" sz="1400" dirty="0">
              <a:solidFill>
                <a:schemeClr val="bg1"/>
              </a:solidFill>
            </a:endParaRPr>
          </a:p>
        </p:txBody>
      </p:sp>
      <p:pic>
        <p:nvPicPr>
          <p:cNvPr id="3" name="Picture 2" descr="Graphical user interface, text, application&#10;&#10;Description automatically generated">
            <a:extLst>
              <a:ext uri="{FF2B5EF4-FFF2-40B4-BE49-F238E27FC236}">
                <a16:creationId xmlns:a16="http://schemas.microsoft.com/office/drawing/2014/main" id="{B79F70BB-277A-4D6E-A7A4-AF762530946B}"/>
              </a:ext>
            </a:extLst>
          </p:cNvPr>
          <p:cNvPicPr>
            <a:picLocks noChangeAspect="1"/>
          </p:cNvPicPr>
          <p:nvPr/>
        </p:nvPicPr>
        <p:blipFill>
          <a:blip r:embed="rId2"/>
          <a:stretch>
            <a:fillRect/>
          </a:stretch>
        </p:blipFill>
        <p:spPr>
          <a:xfrm>
            <a:off x="1052510" y="1557337"/>
            <a:ext cx="10086975" cy="3743325"/>
          </a:xfrm>
          <a:prstGeom prst="rect">
            <a:avLst/>
          </a:prstGeom>
        </p:spPr>
      </p:pic>
    </p:spTree>
    <p:extLst>
      <p:ext uri="{BB962C8B-B14F-4D97-AF65-F5344CB8AC3E}">
        <p14:creationId xmlns:p14="http://schemas.microsoft.com/office/powerpoint/2010/main" val="3707992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2050" y="256732"/>
            <a:ext cx="9404723" cy="960446"/>
          </a:xfrm>
        </p:spPr>
        <p:txBody>
          <a:bodyPr>
            <a:normAutofit/>
          </a:bodyPr>
          <a:lstStyle/>
          <a:p>
            <a:pPr algn="ctr"/>
            <a:r>
              <a:rPr lang="en-US" sz="1800" dirty="0">
                <a:solidFill>
                  <a:schemeClr val="bg1"/>
                </a:solidFill>
              </a:rPr>
              <a:t>R Inputs and Outputs, Continued</a:t>
            </a:r>
          </a:p>
        </p:txBody>
      </p:sp>
      <p:pic>
        <p:nvPicPr>
          <p:cNvPr id="13" name="Content Placeholder 12" descr="Text&#10;&#10;Description automatically generated">
            <a:extLst>
              <a:ext uri="{FF2B5EF4-FFF2-40B4-BE49-F238E27FC236}">
                <a16:creationId xmlns:a16="http://schemas.microsoft.com/office/drawing/2014/main" id="{C9A89D95-AE2C-4830-99FB-682DD0FFD508}"/>
              </a:ext>
            </a:extLst>
          </p:cNvPr>
          <p:cNvPicPr>
            <a:picLocks noGrp="1" noChangeAspect="1"/>
          </p:cNvPicPr>
          <p:nvPr>
            <p:ph idx="1"/>
          </p:nvPr>
        </p:nvPicPr>
        <p:blipFill>
          <a:blip r:embed="rId2"/>
          <a:stretch>
            <a:fillRect/>
          </a:stretch>
        </p:blipFill>
        <p:spPr>
          <a:xfrm>
            <a:off x="3882125" y="1011734"/>
            <a:ext cx="4427749" cy="5468967"/>
          </a:xfrm>
        </p:spPr>
      </p:pic>
    </p:spTree>
    <p:extLst>
      <p:ext uri="{BB962C8B-B14F-4D97-AF65-F5344CB8AC3E}">
        <p14:creationId xmlns:p14="http://schemas.microsoft.com/office/powerpoint/2010/main" val="1274360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CBC0E7-7FA2-49A8-B41B-98B07070243F}"/>
              </a:ext>
            </a:extLst>
          </p:cNvPr>
          <p:cNvSpPr>
            <a:spLocks noGrp="1"/>
          </p:cNvSpPr>
          <p:nvPr>
            <p:ph type="title"/>
          </p:nvPr>
        </p:nvSpPr>
        <p:spPr>
          <a:xfrm>
            <a:off x="1392050" y="256732"/>
            <a:ext cx="9404723" cy="960446"/>
          </a:xfrm>
        </p:spPr>
        <p:txBody>
          <a:bodyPr>
            <a:normAutofit/>
          </a:bodyPr>
          <a:lstStyle/>
          <a:p>
            <a:pPr algn="ctr"/>
            <a:r>
              <a:rPr lang="en-US" sz="1800" dirty="0">
                <a:solidFill>
                  <a:schemeClr val="bg1"/>
                </a:solidFill>
              </a:rPr>
              <a:t>References</a:t>
            </a:r>
          </a:p>
        </p:txBody>
      </p:sp>
      <p:sp>
        <p:nvSpPr>
          <p:cNvPr id="3" name="Content Placeholder 2">
            <a:extLst>
              <a:ext uri="{FF2B5EF4-FFF2-40B4-BE49-F238E27FC236}">
                <a16:creationId xmlns:a16="http://schemas.microsoft.com/office/drawing/2014/main" id="{AEBF7FB2-A276-4042-87D3-30BDF68EAC1D}"/>
              </a:ext>
            </a:extLst>
          </p:cNvPr>
          <p:cNvSpPr>
            <a:spLocks noGrp="1"/>
          </p:cNvSpPr>
          <p:nvPr>
            <p:ph idx="1"/>
          </p:nvPr>
        </p:nvSpPr>
        <p:spPr>
          <a:xfrm>
            <a:off x="1025553" y="1466193"/>
            <a:ext cx="10140894" cy="3641217"/>
          </a:xfrm>
        </p:spPr>
        <p:txBody>
          <a:bodyPr>
            <a:normAutofit/>
          </a:bodyPr>
          <a:lstStyle/>
          <a:p>
            <a:r>
              <a:rPr lang="en-US" sz="1600" dirty="0" err="1">
                <a:latin typeface="Abadi" panose="020B0604020104020204" pitchFamily="34" charset="0"/>
              </a:rPr>
              <a:t>Berrier</a:t>
            </a:r>
            <a:r>
              <a:rPr lang="en-US" sz="1600" dirty="0">
                <a:latin typeface="Abadi" panose="020B0604020104020204" pitchFamily="34" charset="0"/>
              </a:rPr>
              <a:t>, J., </a:t>
            </a:r>
            <a:r>
              <a:rPr lang="en-US" sz="1600" dirty="0" err="1">
                <a:latin typeface="Abadi" panose="020B0604020104020204" pitchFamily="34" charset="0"/>
              </a:rPr>
              <a:t>Berrier</a:t>
            </a:r>
            <a:r>
              <a:rPr lang="en-US" sz="1600" dirty="0">
                <a:latin typeface="Abadi" panose="020B0604020104020204" pitchFamily="34" charset="0"/>
              </a:rPr>
              <a:t>, H., Chan, C., </a:t>
            </a:r>
            <a:r>
              <a:rPr lang="en-US" sz="1600" dirty="0" err="1">
                <a:latin typeface="Abadi" panose="020B0604020104020204" pitchFamily="34" charset="0"/>
              </a:rPr>
              <a:t>Nestler</a:t>
            </a:r>
            <a:r>
              <a:rPr lang="en-US" sz="1600" dirty="0">
                <a:latin typeface="Abadi" panose="020B0604020104020204" pitchFamily="34" charset="0"/>
              </a:rPr>
              <a:t>, S., Pardoe, I., Sturdivant, R., Vahid, F., Watts, K. (2018). Fundamentals of Data Analytics (R). </a:t>
            </a:r>
            <a:r>
              <a:rPr lang="en-US" sz="1600" dirty="0" err="1">
                <a:latin typeface="Abadi" panose="020B0604020104020204" pitchFamily="34" charset="0"/>
              </a:rPr>
              <a:t>ZyBook</a:t>
            </a:r>
            <a:r>
              <a:rPr lang="en-US" sz="1600" dirty="0">
                <a:latin typeface="Abadi" panose="020B0604020104020204" pitchFamily="34" charset="0"/>
              </a:rPr>
              <a:t>.</a:t>
            </a:r>
          </a:p>
          <a:p>
            <a:r>
              <a:rPr lang="en-US" sz="1600" dirty="0" err="1">
                <a:latin typeface="Abadi" panose="020B0604020104020204" pitchFamily="34" charset="0"/>
              </a:rPr>
              <a:t>Sperandei</a:t>
            </a:r>
            <a:r>
              <a:rPr lang="en-US" sz="1600" dirty="0">
                <a:latin typeface="Abadi" panose="020B0604020104020204" pitchFamily="34" charset="0"/>
              </a:rPr>
              <a:t>, S. (2014). Understanding logistic regression </a:t>
            </a:r>
            <a:r>
              <a:rPr lang="en-US" sz="1600" i="1" dirty="0">
                <a:latin typeface="Abadi" panose="020B0604020104020204" pitchFamily="34" charset="0"/>
              </a:rPr>
              <a:t>analysis.</a:t>
            </a:r>
            <a:r>
              <a:rPr lang="en-US" sz="1600" dirty="0">
                <a:latin typeface="Abadi" panose="020B0604020104020204" pitchFamily="34" charset="0"/>
              </a:rPr>
              <a:t> </a:t>
            </a:r>
            <a:r>
              <a:rPr lang="en-US" sz="1600" dirty="0" err="1">
                <a:latin typeface="Abadi" panose="020B0604020104020204" pitchFamily="34" charset="0"/>
              </a:rPr>
              <a:t>Biochem</a:t>
            </a:r>
            <a:r>
              <a:rPr lang="en-US" sz="1600" dirty="0">
                <a:latin typeface="Abadi" panose="020B0604020104020204" pitchFamily="34" charset="0"/>
              </a:rPr>
              <a:t> Med (Zagreb). https://www.ncbi.nlm.nih.gov/pmc/articles/PMC3936971/</a:t>
            </a:r>
          </a:p>
        </p:txBody>
      </p:sp>
    </p:spTree>
    <p:extLst>
      <p:ext uri="{BB962C8B-B14F-4D97-AF65-F5344CB8AC3E}">
        <p14:creationId xmlns:p14="http://schemas.microsoft.com/office/powerpoint/2010/main" val="43584906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Slice</Template>
  <TotalTime>290</TotalTime>
  <Words>1345</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Abadi</vt:lpstr>
      <vt:lpstr>Century Gothic</vt:lpstr>
      <vt:lpstr>Wingdings 3</vt:lpstr>
      <vt:lpstr>Slice</vt:lpstr>
      <vt:lpstr>Predicting Behavior with Logistic Regression – Option 1  </vt:lpstr>
      <vt:lpstr>Problem Statement</vt:lpstr>
      <vt:lpstr>Data</vt:lpstr>
      <vt:lpstr>Data Partitioning</vt:lpstr>
      <vt:lpstr>Training Model Fit</vt:lpstr>
      <vt:lpstr>Evaluating the Train Fit – Statistical Significance</vt:lpstr>
      <vt:lpstr>Evaluating the Train Fit – Regression Coefficients</vt:lpstr>
      <vt:lpstr>Executing the Test Fit</vt:lpstr>
      <vt:lpstr>Creating your prediction Model</vt:lpstr>
      <vt:lpstr>R Inputs and Outputs</vt:lpstr>
      <vt:lpstr>R Inputs and Outputs, Continued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Behavior with Logistic Regression – Option 1  </dc:title>
  <dc:creator>Austin</dc:creator>
  <cp:lastModifiedBy>Austin</cp:lastModifiedBy>
  <cp:revision>1</cp:revision>
  <dcterms:created xsi:type="dcterms:W3CDTF">2021-08-22T21:55:58Z</dcterms:created>
  <dcterms:modified xsi:type="dcterms:W3CDTF">2021-08-23T02:46:33Z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